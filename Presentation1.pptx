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79"/>
  </p:normalViewPr>
  <p:slideViewPr>
    <p:cSldViewPr snapToGrid="0">
      <p:cViewPr varScale="1">
        <p:scale>
          <a:sx n="104" d="100"/>
          <a:sy n="104" d="100"/>
        </p:scale>
        <p:origin x="8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8D389-A876-757B-6014-96C5840FF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5F0BFE-D53E-7FAD-2B5D-F7316E760E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BCF50-1BFF-A4EF-AE22-C0C215BFB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0F947-F979-F447-873C-3D716B21159B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B0DB4-EBAD-892C-8844-918B358CB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9FC31-F592-629F-63D2-12235E217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F44CF-8D8C-D143-A07D-030616558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282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0DF07-F058-6EB1-61D8-59CD1CFF2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E61F3-F936-0A06-1499-054DF363E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025BF-1104-7A8F-C129-62F30B129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0F947-F979-F447-873C-3D716B21159B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9DD4F-F137-7AF6-FA18-5BE0B7874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5A64F-09E6-82C4-DBD6-B6DC8B5AE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F44CF-8D8C-D143-A07D-030616558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002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F224C-D321-63C1-1E9A-2B784CCFE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7EEB90-4EAC-196B-813A-4E068B8E0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534E9-1E57-F1D9-A0E4-B0922AC15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0F947-F979-F447-873C-3D716B21159B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43563-528F-495E-53AC-4662EED1C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2D6FD-FA44-ED99-4ADE-1CC638C6A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F44CF-8D8C-D143-A07D-030616558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167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465D7-EB44-B75B-DED5-E66D7CEE6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F922B-DB9F-81AB-71F6-AE4AC610F1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EE9EBA-F925-9F6D-6141-D644B5322C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4C84AE-EA43-5C31-233C-74C204EC1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0F947-F979-F447-873C-3D716B21159B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91D88C-45C7-40E6-D76F-1BFA4E4BC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A27E6D-6194-9529-BFBB-B434E1B3E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F44CF-8D8C-D143-A07D-030616558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549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08529-AD45-0FE2-B341-53DD1BB4C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BCCF30-B78A-8953-B43C-E90325C8A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18C576-3CED-96B1-B65F-615A13F70C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BED8A4-A7B1-D07B-1005-354340A465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5AE601-DE69-E9D9-BB8E-530214A723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0495E0-4C17-31E3-21DE-8923C4481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0F947-F979-F447-873C-3D716B21159B}" type="datetimeFigureOut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4BE4E7-FF0C-C58C-8355-DDC75EBBD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0BEDC2-E7C4-BF44-3ED1-FB5B042CB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F44CF-8D8C-D143-A07D-030616558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114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C9F1D-5A2C-B529-E2C4-7BB27F7DC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9D4AC2-385F-0320-8E3D-782A23E19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0F947-F979-F447-873C-3D716B21159B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89F3EE-5E77-3B7D-3D80-59E887D00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8789A2-F5AA-A846-453E-7E44B0A49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F44CF-8D8C-D143-A07D-030616558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028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50FA3C-67AB-9195-326B-21EDC9B17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0F947-F979-F447-873C-3D716B21159B}" type="datetimeFigureOut">
              <a:rPr lang="en-US" smtClean="0"/>
              <a:t>6/18/26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794E01-B1EA-FD55-AB94-68057C4CB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D2558-7BD8-0250-1932-76C8DFAC7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F44CF-8D8C-D143-A07D-030616558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350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09C05-D6C2-5570-EC58-F7600604F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27826-B6E8-3A84-3047-D40FED7A4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4E2626-A771-6A2F-DCCF-2EF51DB997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11036B-05EF-20B4-37E5-352A8AF9F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0F947-F979-F447-873C-3D716B21159B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535F40-C67E-6D19-FB67-D561BF92D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EB0169-9D31-86F5-896E-0A04CC231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F44CF-8D8C-D143-A07D-030616558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13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0B08F-0417-6D82-E07B-20666B455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F8ECF6-8E88-8265-BE4E-5D780D460C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BE9AC-B37B-4033-0CBF-C67183EE68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D57AB9-B7A6-A420-19DF-8C275CEF2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0F947-F979-F447-873C-3D716B21159B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6EC64A-B4B7-7A9E-F7C7-9FFFFDE70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72B158-5579-FB04-B621-2E0AF22AA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F44CF-8D8C-D143-A07D-030616558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811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8039C-6805-DC81-0ABE-963D9F99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8407A8-88F9-9F19-7C04-C0567FE820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90D42-B2F4-BF48-B1FE-F5D0BBBC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0F947-F979-F447-873C-3D716B21159B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B6D2D-FF5A-022F-4578-BDEDD6A30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30A59-AFED-AFEE-82AD-C6450002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F44CF-8D8C-D143-A07D-030616558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331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890D85-C68B-1AFC-C37A-8B1EE35DAA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1D63C5-B589-C3D9-3C02-0FABA799ED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028EA-CBAF-B699-C125-18C2C7833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0F947-F979-F447-873C-3D716B21159B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1594F-715E-7BB8-40C5-9D8D9E605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C838B-9CB4-47F1-E87A-895F52A91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F44CF-8D8C-D143-A07D-030616558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558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4B01A-0C4A-CDF4-D67E-AA7BECE93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A7EC95-86CB-B03A-0165-EDD15B04B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21DCD-40D6-AE51-2D4C-83D0851E75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80F947-F979-F447-873C-3D716B21159B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55C53-E0C4-89F3-B875-72C4F71D79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314D3-857E-FA49-E967-980CE4B0ED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EF44CF-8D8C-D143-A07D-030616558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048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91D3F-74EF-4146-CDDB-001C3883AE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C8A23B-37DC-342E-0A45-E0431792C0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53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4CBB3-68AD-E2B6-9459-1ED4DEE2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001BC88-72C0-D128-2C04-E913E3649DC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416560" y="1773359"/>
          <a:ext cx="7358880" cy="4455870"/>
        </p:xfrm>
        <a:graphic>
          <a:graphicData uri="http://schemas.openxmlformats.org/drawingml/2006/table">
            <a:tbl>
              <a:tblPr/>
              <a:tblGrid>
                <a:gridCol w="3679440">
                  <a:extLst>
                    <a:ext uri="{9D8B030D-6E8A-4147-A177-3AD203B41FA5}">
                      <a16:colId xmlns:a16="http://schemas.microsoft.com/office/drawing/2014/main" val="382443680"/>
                    </a:ext>
                  </a:extLst>
                </a:gridCol>
                <a:gridCol w="3679440">
                  <a:extLst>
                    <a:ext uri="{9D8B030D-6E8A-4147-A177-3AD203B41FA5}">
                      <a16:colId xmlns:a16="http://schemas.microsoft.com/office/drawing/2014/main" val="1728061653"/>
                    </a:ext>
                  </a:extLst>
                </a:gridCol>
              </a:tblGrid>
              <a:tr h="25596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300" b="0" i="0">
                          <a:solidFill>
                            <a:srgbClr val="000000"/>
                          </a:solidFill>
                          <a:effectLst/>
                        </a:rPr>
                        <a:t>الفصل الثالث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300" b="0" i="0">
                          <a:solidFill>
                            <a:srgbClr val="000000"/>
                          </a:solidFill>
                          <a:effectLst/>
                        </a:rPr>
                        <a:t>شريحة البرزنتيشن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2802985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300" b="0" i="0">
                          <a:solidFill>
                            <a:srgbClr val="000000"/>
                          </a:solidFill>
                          <a:effectLst/>
                        </a:rPr>
                        <a:t>3.1 Research Methodology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300" b="0" i="0">
                          <a:solidFill>
                            <a:srgbClr val="000000"/>
                          </a:solidFill>
                          <a:effectLst/>
                        </a:rPr>
                        <a:t>Slide 10 – Research Methodology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2686737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300" b="0" i="0">
                          <a:solidFill>
                            <a:srgbClr val="000000"/>
                          </a:solidFill>
                          <a:effectLst/>
                        </a:rPr>
                        <a:t>3.2 System Architecture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300" b="0" i="0">
                          <a:solidFill>
                            <a:srgbClr val="000000"/>
                          </a:solidFill>
                          <a:effectLst/>
                        </a:rPr>
                        <a:t>Slide 11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1300240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300" b="0" i="0">
                          <a:solidFill>
                            <a:srgbClr val="000000"/>
                          </a:solidFill>
                          <a:effectLst/>
                        </a:rPr>
                        <a:t>3.2.1 Overall Framework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300" b="0" i="0">
                          <a:solidFill>
                            <a:srgbClr val="000000"/>
                          </a:solidFill>
                          <a:effectLst/>
                        </a:rPr>
                        <a:t>Slide 12 (Workflow Figure)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6937577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300" b="0" i="0">
                          <a:solidFill>
                            <a:srgbClr val="000000"/>
                          </a:solidFill>
                          <a:effectLst/>
                        </a:rPr>
                        <a:t>3.2.2 Federated Learning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300" b="0" i="0">
                          <a:solidFill>
                            <a:srgbClr val="000000"/>
                          </a:solidFill>
                          <a:effectLst/>
                        </a:rPr>
                        <a:t>Slide 13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3486151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300" b="0" i="0">
                          <a:solidFill>
                            <a:srgbClr val="000000"/>
                          </a:solidFill>
                          <a:effectLst/>
                        </a:rPr>
                        <a:t>3.2.3 Composite GAN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300" b="0" i="0">
                          <a:solidFill>
                            <a:srgbClr val="000000"/>
                          </a:solidFill>
                          <a:effectLst/>
                        </a:rPr>
                        <a:t>Slide 14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9800810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300" b="0" i="0">
                          <a:solidFill>
                            <a:srgbClr val="000000"/>
                          </a:solidFill>
                          <a:effectLst/>
                        </a:rPr>
                        <a:t>3.2.4 DeepLab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300" b="0" i="0">
                          <a:solidFill>
                            <a:srgbClr val="000000"/>
                          </a:solidFill>
                          <a:effectLst/>
                        </a:rPr>
                        <a:t>Slide 15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8557899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300" b="0" i="0">
                          <a:solidFill>
                            <a:srgbClr val="000000"/>
                          </a:solidFill>
                          <a:effectLst/>
                        </a:rPr>
                        <a:t>3.3 Dataset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300" b="0" i="0">
                          <a:solidFill>
                            <a:srgbClr val="000000"/>
                          </a:solidFill>
                          <a:effectLst/>
                        </a:rPr>
                        <a:t>Slide 16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7456695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300" b="0" i="0">
                          <a:solidFill>
                            <a:srgbClr val="000000"/>
                          </a:solidFill>
                          <a:effectLst/>
                        </a:rPr>
                        <a:t>3.4 Data Preprocessing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300" b="0" i="0">
                          <a:solidFill>
                            <a:srgbClr val="000000"/>
                          </a:solidFill>
                          <a:effectLst/>
                        </a:rPr>
                        <a:t>Slide 17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4339064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300" b="0" i="0">
                          <a:solidFill>
                            <a:srgbClr val="000000"/>
                          </a:solidFill>
                          <a:effectLst/>
                        </a:rPr>
                        <a:t>3.5 Composite GAN Augmentation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300" b="0" i="0">
                          <a:solidFill>
                            <a:srgbClr val="000000"/>
                          </a:solidFill>
                          <a:effectLst/>
                        </a:rPr>
                        <a:t>Slide 18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1786456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300" b="0" i="0">
                          <a:solidFill>
                            <a:srgbClr val="000000"/>
                          </a:solidFill>
                          <a:effectLst/>
                        </a:rPr>
                        <a:t>3.6 Feature Engineering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300" b="0" i="0">
                          <a:solidFill>
                            <a:srgbClr val="000000"/>
                          </a:solidFill>
                          <a:effectLst/>
                        </a:rPr>
                        <a:t>Slide 19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245846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300" b="0" i="0">
                          <a:solidFill>
                            <a:srgbClr val="000000"/>
                          </a:solidFill>
                          <a:effectLst/>
                        </a:rPr>
                        <a:t>3.7 Feature Analysis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300" b="0" i="0">
                          <a:solidFill>
                            <a:srgbClr val="000000"/>
                          </a:solidFill>
                          <a:effectLst/>
                        </a:rPr>
                        <a:t>Slide 20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74005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300" b="0" i="0">
                          <a:solidFill>
                            <a:srgbClr val="000000"/>
                          </a:solidFill>
                          <a:effectLst/>
                        </a:rPr>
                        <a:t>3.8 Federated Training Procedure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300" b="0" i="0">
                          <a:solidFill>
                            <a:srgbClr val="000000"/>
                          </a:solidFill>
                          <a:effectLst/>
                        </a:rPr>
                        <a:t>Slide 21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179765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300" b="0" i="0">
                          <a:solidFill>
                            <a:srgbClr val="000000"/>
                          </a:solidFill>
                          <a:effectLst/>
                        </a:rPr>
                        <a:t>3.9 Experimental Design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300" b="0" i="0">
                          <a:solidFill>
                            <a:srgbClr val="000000"/>
                          </a:solidFill>
                          <a:effectLst/>
                        </a:rPr>
                        <a:t>Slide 22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3341067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300" b="0" i="0">
                          <a:solidFill>
                            <a:srgbClr val="000000"/>
                          </a:solidFill>
                          <a:effectLst/>
                        </a:rPr>
                        <a:t>Chapter 4 Results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300" b="0" i="0">
                          <a:solidFill>
                            <a:srgbClr val="000000"/>
                          </a:solidFill>
                          <a:effectLst/>
                        </a:rPr>
                        <a:t>Slides 23–30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0957381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300" b="0" i="0">
                          <a:solidFill>
                            <a:srgbClr val="000000"/>
                          </a:solidFill>
                          <a:effectLst/>
                        </a:rPr>
                        <a:t>Nabdh AI System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300" b="0" i="0">
                          <a:solidFill>
                            <a:srgbClr val="000000"/>
                          </a:solidFill>
                          <a:effectLst/>
                        </a:rPr>
                        <a:t>Slides 31–33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034853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300" b="0" i="0">
                          <a:solidFill>
                            <a:srgbClr val="000000"/>
                          </a:solidFill>
                          <a:effectLst/>
                        </a:rPr>
                        <a:t>Conclusion &amp; Future Work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300" b="0" i="0" dirty="0">
                          <a:solidFill>
                            <a:srgbClr val="000000"/>
                          </a:solidFill>
                          <a:effectLst/>
                        </a:rPr>
                        <a:t>Slides 34–35</a:t>
                      </a:r>
                    </a:p>
                  </a:txBody>
                  <a:tcPr marL="63990" marR="63990" marT="31995" marB="31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4893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1503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12AFD-14CC-599A-DF91-69C1B83DB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Research Methodology</a:t>
            </a:r>
            <a:br>
              <a:rPr lang="en-GB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9CB28-F306-0FD8-9CBB-29B2D13EB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en-US" dirty="0"/>
              <a:t>• Experimental and data-driven methodology</a:t>
            </a:r>
          </a:p>
          <a:p>
            <a:pPr algn="r" rtl="1"/>
            <a:r>
              <a:rPr lang="en-US" dirty="0"/>
              <a:t>• Extension of centralized </a:t>
            </a:r>
            <a:r>
              <a:rPr lang="en-US" dirty="0" err="1"/>
              <a:t>GenDeep</a:t>
            </a:r>
            <a:r>
              <a:rPr lang="en-US" dirty="0"/>
              <a:t> architecture</a:t>
            </a:r>
          </a:p>
          <a:p>
            <a:pPr algn="r" rtl="1"/>
            <a:r>
              <a:rPr lang="en-US" dirty="0"/>
              <a:t>• Federated Learning for privacy preservation</a:t>
            </a:r>
          </a:p>
          <a:p>
            <a:pPr algn="r" rtl="1"/>
            <a:r>
              <a:rPr lang="en-US" dirty="0"/>
              <a:t>• Local ACGAN-based MRI augmentation</a:t>
            </a:r>
          </a:p>
          <a:p>
            <a:pPr algn="r" rtl="1"/>
            <a:r>
              <a:rPr lang="en-US" dirty="0"/>
              <a:t>• </a:t>
            </a:r>
            <a:r>
              <a:rPr lang="en-US" dirty="0" err="1"/>
              <a:t>DeepLab</a:t>
            </a:r>
            <a:r>
              <a:rPr lang="en-US" dirty="0"/>
              <a:t> semantic segmentation</a:t>
            </a:r>
          </a:p>
          <a:p>
            <a:pPr algn="r" rtl="1"/>
            <a:r>
              <a:rPr lang="en-US" dirty="0"/>
              <a:t>• Hierarchical cardiac feature engineering</a:t>
            </a:r>
          </a:p>
          <a:p>
            <a:pPr algn="r" rtl="1"/>
            <a:r>
              <a:rPr lang="en-US" dirty="0"/>
              <a:t>• </a:t>
            </a:r>
            <a:r>
              <a:rPr lang="en-US" dirty="0" err="1"/>
              <a:t>XGBoost</a:t>
            </a:r>
            <a:r>
              <a:rPr lang="en-US" dirty="0"/>
              <a:t>, Random Forest, and </a:t>
            </a:r>
            <a:r>
              <a:rPr lang="en-US" dirty="0" err="1"/>
              <a:t>TabNet</a:t>
            </a:r>
            <a:r>
              <a:rPr lang="en-US" dirty="0"/>
              <a:t> classification</a:t>
            </a:r>
          </a:p>
          <a:p>
            <a:pPr algn="r" rtl="1"/>
            <a:r>
              <a:rPr lang="en-US" dirty="0"/>
              <a:t>• </a:t>
            </a:r>
            <a:r>
              <a:rPr lang="en-US" dirty="0" err="1"/>
              <a:t>FedAvg</a:t>
            </a:r>
            <a:r>
              <a:rPr lang="en-US" dirty="0"/>
              <a:t> aggregation for distributed training</a:t>
            </a:r>
          </a:p>
        </p:txBody>
      </p:sp>
    </p:spTree>
    <p:extLst>
      <p:ext uri="{BB962C8B-B14F-4D97-AF65-F5344CB8AC3E}">
        <p14:creationId xmlns:p14="http://schemas.microsoft.com/office/powerpoint/2010/main" val="2767830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1D1D1-D793-07BC-603C-9ED961B84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A625EB-E7EA-EFAB-2A7E-B62765182A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5108" y="1825625"/>
            <a:ext cx="580178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513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B84AA-8175-0FA4-026A-D71DC79F8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 Architecture</a:t>
            </a:r>
            <a:br>
              <a:rPr lang="en-GB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A6854-9B0C-A491-72D9-B33A88E86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en-US" dirty="0"/>
              <a:t>• Privacy-preserving distributed framework</a:t>
            </a:r>
          </a:p>
          <a:p>
            <a:pPr algn="r" rtl="1"/>
            <a:r>
              <a:rPr lang="en-US" dirty="0"/>
              <a:t>• Composite GAN-based augmentation</a:t>
            </a:r>
          </a:p>
          <a:p>
            <a:pPr algn="r" rtl="1"/>
            <a:r>
              <a:rPr lang="en-US" dirty="0"/>
              <a:t>• </a:t>
            </a:r>
            <a:r>
              <a:rPr lang="en-US" dirty="0" err="1"/>
              <a:t>DeepLab</a:t>
            </a:r>
            <a:r>
              <a:rPr lang="en-US" dirty="0"/>
              <a:t> semantic segmentation</a:t>
            </a:r>
          </a:p>
          <a:p>
            <a:pPr algn="r" rtl="1"/>
            <a:r>
              <a:rPr lang="en-US" dirty="0"/>
              <a:t>• Local hospital training</a:t>
            </a:r>
          </a:p>
          <a:p>
            <a:pPr algn="r" rtl="1"/>
            <a:r>
              <a:rPr lang="en-US" dirty="0"/>
              <a:t>• Secure parameter sharing</a:t>
            </a:r>
          </a:p>
          <a:p>
            <a:pPr algn="r" rtl="1"/>
            <a:r>
              <a:rPr lang="en-US" dirty="0"/>
              <a:t>• Asynchronous </a:t>
            </a:r>
            <a:r>
              <a:rPr lang="en-US" dirty="0" err="1"/>
              <a:t>FedAvg</a:t>
            </a:r>
            <a:r>
              <a:rPr lang="en-US" dirty="0"/>
              <a:t> aggregation</a:t>
            </a:r>
          </a:p>
          <a:p>
            <a:pPr algn="r" rtl="1"/>
            <a:r>
              <a:rPr lang="en-US" dirty="0"/>
              <a:t>• Global disease prediction model</a:t>
            </a:r>
          </a:p>
        </p:txBody>
      </p:sp>
    </p:spTree>
    <p:extLst>
      <p:ext uri="{BB962C8B-B14F-4D97-AF65-F5344CB8AC3E}">
        <p14:creationId xmlns:p14="http://schemas.microsoft.com/office/powerpoint/2010/main" val="2678951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98263-15A8-54B5-27A0-BCBF54A4A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0BE488-117D-099F-A762-1A4FADF0FE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5634" y="1825625"/>
            <a:ext cx="962073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446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1847D-98A2-B732-F6D4-A5DBCDF1C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en-GB" dirty="0"/>
              <a:t>Overall Framework</a:t>
            </a:r>
            <a:br>
              <a:rPr lang="en-GB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26CCC-91DB-0656-208E-5EE300D0A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algn="r" rtl="1"/>
            <a:r>
              <a:rPr lang="en-US" dirty="0"/>
              <a:t>ACDC MRI</a:t>
            </a:r>
          </a:p>
          <a:p>
            <a:pPr algn="r" rtl="1"/>
            <a:r>
              <a:rPr lang="en-US" dirty="0"/>
              <a:t>      ↓</a:t>
            </a:r>
          </a:p>
          <a:p>
            <a:pPr algn="r" rtl="1"/>
            <a:r>
              <a:rPr lang="en-US" dirty="0"/>
              <a:t>MRI Preprocessing</a:t>
            </a:r>
          </a:p>
          <a:p>
            <a:pPr algn="r" rtl="1"/>
            <a:r>
              <a:rPr lang="en-US" dirty="0"/>
              <a:t>      ↓</a:t>
            </a:r>
          </a:p>
          <a:p>
            <a:pPr algn="r" rtl="1"/>
            <a:r>
              <a:rPr lang="en-US" dirty="0"/>
              <a:t>Local ACGAN Training</a:t>
            </a:r>
          </a:p>
          <a:p>
            <a:pPr algn="r" rtl="1"/>
            <a:r>
              <a:rPr lang="en-US" dirty="0"/>
              <a:t>      ↓</a:t>
            </a:r>
          </a:p>
          <a:p>
            <a:pPr algn="r" rtl="1"/>
            <a:r>
              <a:rPr lang="en-US" dirty="0"/>
              <a:t>Synthetic MRI Generation</a:t>
            </a:r>
          </a:p>
          <a:p>
            <a:pPr algn="r" rtl="1"/>
            <a:r>
              <a:rPr lang="en-US" dirty="0"/>
              <a:t>      ↓</a:t>
            </a:r>
          </a:p>
          <a:p>
            <a:pPr algn="r" rtl="1"/>
            <a:r>
              <a:rPr lang="en-US" dirty="0" err="1"/>
              <a:t>MixedAugmentedDataset</a:t>
            </a:r>
            <a:endParaRPr lang="en-US" dirty="0"/>
          </a:p>
          <a:p>
            <a:pPr algn="r" rtl="1"/>
            <a:r>
              <a:rPr lang="en-US" dirty="0"/>
              <a:t>      ↓</a:t>
            </a:r>
          </a:p>
          <a:p>
            <a:pPr algn="r" rtl="1"/>
            <a:r>
              <a:rPr lang="en-US" dirty="0" err="1"/>
              <a:t>DeepLab</a:t>
            </a:r>
            <a:r>
              <a:rPr lang="en-US" dirty="0"/>
              <a:t> Segmentation</a:t>
            </a:r>
          </a:p>
          <a:p>
            <a:pPr algn="r" rtl="1"/>
            <a:r>
              <a:rPr lang="en-US" dirty="0"/>
              <a:t>      ↓</a:t>
            </a:r>
          </a:p>
          <a:p>
            <a:pPr algn="r" rtl="1"/>
            <a:r>
              <a:rPr lang="en-US" dirty="0"/>
              <a:t>Slice-Level Features</a:t>
            </a:r>
          </a:p>
          <a:p>
            <a:pPr algn="r" rtl="1"/>
            <a:r>
              <a:rPr lang="en-US" dirty="0"/>
              <a:t>      ↓</a:t>
            </a:r>
          </a:p>
          <a:p>
            <a:pPr algn="r" rtl="1"/>
            <a:r>
              <a:rPr lang="en-US" dirty="0"/>
              <a:t>Patient-Level Features</a:t>
            </a:r>
          </a:p>
          <a:p>
            <a:pPr algn="r" rtl="1"/>
            <a:r>
              <a:rPr lang="en-US" dirty="0"/>
              <a:t>      ↓</a:t>
            </a:r>
          </a:p>
          <a:p>
            <a:pPr algn="r" rtl="1"/>
            <a:r>
              <a:rPr lang="en-US" dirty="0"/>
              <a:t>PCA / t-SNE / Correlation</a:t>
            </a:r>
          </a:p>
          <a:p>
            <a:pPr algn="r" rtl="1"/>
            <a:r>
              <a:rPr lang="en-US" dirty="0"/>
              <a:t>      ↓</a:t>
            </a:r>
          </a:p>
          <a:p>
            <a:pPr algn="r" rtl="1"/>
            <a:r>
              <a:rPr lang="en-US" dirty="0" err="1"/>
              <a:t>XGBoost</a:t>
            </a:r>
            <a:r>
              <a:rPr lang="en-US" dirty="0"/>
              <a:t> / RF / </a:t>
            </a:r>
            <a:r>
              <a:rPr lang="en-US" dirty="0" err="1"/>
              <a:t>TabNet</a:t>
            </a:r>
            <a:endParaRPr lang="en-US" dirty="0"/>
          </a:p>
          <a:p>
            <a:pPr algn="r" rtl="1"/>
            <a:r>
              <a:rPr lang="en-US" dirty="0"/>
              <a:t>      ↓</a:t>
            </a:r>
          </a:p>
          <a:p>
            <a:pPr algn="r" rtl="1"/>
            <a:r>
              <a:rPr lang="en-US" dirty="0" err="1"/>
              <a:t>FedAvg</a:t>
            </a:r>
            <a:r>
              <a:rPr lang="en-US" dirty="0"/>
              <a:t> Aggregation</a:t>
            </a:r>
          </a:p>
          <a:p>
            <a:pPr algn="r" rtl="1"/>
            <a:r>
              <a:rPr lang="en-US" dirty="0"/>
              <a:t>      ↓</a:t>
            </a:r>
          </a:p>
          <a:p>
            <a:pPr algn="r" rtl="1"/>
            <a:r>
              <a:rPr lang="en-US" dirty="0"/>
              <a:t>Disease Prediction</a:t>
            </a:r>
          </a:p>
        </p:txBody>
      </p:sp>
    </p:spTree>
    <p:extLst>
      <p:ext uri="{BB962C8B-B14F-4D97-AF65-F5344CB8AC3E}">
        <p14:creationId xmlns:p14="http://schemas.microsoft.com/office/powerpoint/2010/main" val="945850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2DB61-D06B-B21D-D658-3D414EE62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919DC-597F-5B67-95C5-918608897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en-GB" i="1" dirty="0"/>
              <a:t>The extracted features were </a:t>
            </a:r>
            <a:r>
              <a:rPr lang="en-GB" i="1" dirty="0" err="1"/>
              <a:t>analyzed</a:t>
            </a:r>
            <a:r>
              <a:rPr lang="en-GB" i="1" dirty="0"/>
              <a:t> and visualized to understand their distributions and relative importance. </a:t>
            </a:r>
            <a:r>
              <a:rPr lang="en-GB" i="1"/>
              <a:t>No explicit dimensionality reduction or feature elimination method was applied prior to model training.</a:t>
            </a:r>
            <a:endParaRPr lang="en-GB"/>
          </a:p>
          <a:p>
            <a: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420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3065</TotalTime>
  <Words>259</Words>
  <Application>Microsoft Macintosh PowerPoint</Application>
  <PresentationFormat>Widescreen</PresentationFormat>
  <Paragraphs>76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Research Methodology </vt:lpstr>
      <vt:lpstr>PowerPoint Presentation</vt:lpstr>
      <vt:lpstr>System Architecture </vt:lpstr>
      <vt:lpstr>PowerPoint Presentation</vt:lpstr>
      <vt:lpstr>Overall Framework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سارية بنت عايض بن مفلح بن يحيى</dc:creator>
  <cp:lastModifiedBy>سارية بنت عايض بن مفلح بن يحيى</cp:lastModifiedBy>
  <cp:revision>1</cp:revision>
  <dcterms:created xsi:type="dcterms:W3CDTF">2026-06-17T21:55:32Z</dcterms:created>
  <dcterms:modified xsi:type="dcterms:W3CDTF">2026-06-20T01:01:14Z</dcterms:modified>
</cp:coreProperties>
</file>